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399" r:id="rId2"/>
    <p:sldId id="388" r:id="rId3"/>
    <p:sldId id="391" r:id="rId4"/>
    <p:sldId id="392" r:id="rId5"/>
    <p:sldId id="393" r:id="rId6"/>
    <p:sldId id="394" r:id="rId7"/>
    <p:sldId id="395" r:id="rId8"/>
    <p:sldId id="396" r:id="rId9"/>
    <p:sldId id="397" r:id="rId10"/>
    <p:sldId id="366" r:id="rId11"/>
    <p:sldId id="30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showGuides="1">
      <p:cViewPr varScale="1">
        <p:scale>
          <a:sx n="75" d="100"/>
          <a:sy n="75" d="100"/>
        </p:scale>
        <p:origin x="1853"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4/9/2026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4/9/2026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9 April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9 April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9 April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9 April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9 April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9 April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9 April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9 April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AD3D-E4FA-A860-FA19-5AA7DC90EB15}"/>
              </a:ext>
            </a:extLst>
          </p:cNvPr>
          <p:cNvSpPr>
            <a:spLocks noGrp="1"/>
          </p:cNvSpPr>
          <p:nvPr>
            <p:ph type="ctrTitle"/>
          </p:nvPr>
        </p:nvSpPr>
        <p:spPr>
          <a:xfrm>
            <a:off x="685800" y="2130425"/>
            <a:ext cx="7772400" cy="993775"/>
          </a:xfrm>
        </p:spPr>
        <p:txBody>
          <a:bodyPr/>
          <a:lstStyle/>
          <a:p>
            <a:r>
              <a:rPr lang="en-IN" dirty="0"/>
              <a:t>PROJECT CENTRIC LEARNING</a:t>
            </a:r>
          </a:p>
        </p:txBody>
      </p:sp>
      <p:sp>
        <p:nvSpPr>
          <p:cNvPr id="3" name="Subtitle 2">
            <a:extLst>
              <a:ext uri="{FF2B5EF4-FFF2-40B4-BE49-F238E27FC236}">
                <a16:creationId xmlns:a16="http://schemas.microsoft.com/office/drawing/2014/main" id="{298B2107-4018-1037-9059-021C9EE2D42C}"/>
              </a:ext>
            </a:extLst>
          </p:cNvPr>
          <p:cNvSpPr>
            <a:spLocks noGrp="1"/>
          </p:cNvSpPr>
          <p:nvPr>
            <p:ph type="subTitle" idx="1"/>
          </p:nvPr>
        </p:nvSpPr>
        <p:spPr>
          <a:xfrm>
            <a:off x="6248400" y="5105401"/>
            <a:ext cx="2438400" cy="1616074"/>
          </a:xfrm>
        </p:spPr>
        <p:txBody>
          <a:bodyPr>
            <a:normAutofit fontScale="85000" lnSpcReduction="20000"/>
          </a:bodyPr>
          <a:lstStyle/>
          <a:p>
            <a:pPr algn="r"/>
            <a:r>
              <a:rPr lang="en-IN" dirty="0"/>
              <a:t>           SUBMITTED BY </a:t>
            </a:r>
          </a:p>
          <a:p>
            <a:pPr algn="r"/>
            <a:r>
              <a:rPr lang="en-IN" dirty="0"/>
              <a:t>SRAVYA.M</a:t>
            </a:r>
          </a:p>
          <a:p>
            <a:pPr algn="r"/>
            <a:r>
              <a:rPr lang="en-IN" dirty="0"/>
              <a:t>(23BTRCL208)</a:t>
            </a:r>
          </a:p>
        </p:txBody>
      </p:sp>
      <p:sp>
        <p:nvSpPr>
          <p:cNvPr id="4" name="Date Placeholder 3">
            <a:extLst>
              <a:ext uri="{FF2B5EF4-FFF2-40B4-BE49-F238E27FC236}">
                <a16:creationId xmlns:a16="http://schemas.microsoft.com/office/drawing/2014/main" id="{028D3E44-A2CF-0AE3-BAA0-E74701934D5C}"/>
              </a:ext>
            </a:extLst>
          </p:cNvPr>
          <p:cNvSpPr>
            <a:spLocks noGrp="1"/>
          </p:cNvSpPr>
          <p:nvPr>
            <p:ph type="dt" sz="half" idx="10"/>
          </p:nvPr>
        </p:nvSpPr>
        <p:spPr/>
        <p:txBody>
          <a:bodyPr/>
          <a:lstStyle/>
          <a:p>
            <a:fld id="{B3BD94B3-44B9-44B7-85A7-F056FA607D46}" type="datetime3">
              <a:rPr lang="en-US" smtClean="0"/>
              <a:t>9 April 2026</a:t>
            </a:fld>
            <a:endParaRPr lang="en-US"/>
          </a:p>
        </p:txBody>
      </p:sp>
      <p:sp>
        <p:nvSpPr>
          <p:cNvPr id="5" name="Footer Placeholder 4">
            <a:extLst>
              <a:ext uri="{FF2B5EF4-FFF2-40B4-BE49-F238E27FC236}">
                <a16:creationId xmlns:a16="http://schemas.microsoft.com/office/drawing/2014/main" id="{CD24F99B-E476-541D-B5F8-52364F8E74DA}"/>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10E9627-1D5F-50EF-6D11-58A7205A2AFF}"/>
              </a:ext>
            </a:extLst>
          </p:cNvPr>
          <p:cNvSpPr>
            <a:spLocks noGrp="1"/>
          </p:cNvSpPr>
          <p:nvPr>
            <p:ph type="sldNum" sz="quarter" idx="12"/>
          </p:nvPr>
        </p:nvSpPr>
        <p:spPr/>
        <p:txBody>
          <a:bodyPr/>
          <a:lstStyle/>
          <a:p>
            <a:fld id="{7B28076C-CE04-4A00-BFAA-A90EA8355859}" type="slidenum">
              <a:rPr lang="en-US" smtClean="0"/>
              <a:t>1</a:t>
            </a:fld>
            <a:endParaRPr lang="en-US"/>
          </a:p>
        </p:txBody>
      </p:sp>
      <p:sp>
        <p:nvSpPr>
          <p:cNvPr id="8" name="TextBox 7">
            <a:extLst>
              <a:ext uri="{FF2B5EF4-FFF2-40B4-BE49-F238E27FC236}">
                <a16:creationId xmlns:a16="http://schemas.microsoft.com/office/drawing/2014/main" id="{A4E7A1B0-0176-B9FE-ECC4-A7941AF98137}"/>
              </a:ext>
            </a:extLst>
          </p:cNvPr>
          <p:cNvSpPr txBox="1"/>
          <p:nvPr/>
        </p:nvSpPr>
        <p:spPr>
          <a:xfrm>
            <a:off x="762000" y="609600"/>
            <a:ext cx="6096000" cy="707886"/>
          </a:xfrm>
          <a:prstGeom prst="rect">
            <a:avLst/>
          </a:prstGeom>
          <a:noFill/>
        </p:spPr>
        <p:txBody>
          <a:bodyPr wrap="square">
            <a:spAutoFit/>
          </a:bodyPr>
          <a:lstStyle/>
          <a:p>
            <a:r>
              <a:rPr lang="en-IN" sz="4000" dirty="0"/>
              <a:t>SMART PRICE COMPARATOR </a:t>
            </a:r>
          </a:p>
        </p:txBody>
      </p:sp>
      <p:sp>
        <p:nvSpPr>
          <p:cNvPr id="9" name="TextBox 8">
            <a:extLst>
              <a:ext uri="{FF2B5EF4-FFF2-40B4-BE49-F238E27FC236}">
                <a16:creationId xmlns:a16="http://schemas.microsoft.com/office/drawing/2014/main" id="{C7B44820-70A2-BFEC-798E-268FD968B6A4}"/>
              </a:ext>
            </a:extLst>
          </p:cNvPr>
          <p:cNvSpPr txBox="1"/>
          <p:nvPr/>
        </p:nvSpPr>
        <p:spPr>
          <a:xfrm>
            <a:off x="2895600" y="3124200"/>
            <a:ext cx="5257800" cy="369332"/>
          </a:xfrm>
          <a:prstGeom prst="rect">
            <a:avLst/>
          </a:prstGeom>
          <a:noFill/>
        </p:spPr>
        <p:txBody>
          <a:bodyPr wrap="square" rtlCol="0">
            <a:spAutoFit/>
          </a:bodyPr>
          <a:lstStyle/>
          <a:p>
            <a:pPr algn="ctr"/>
            <a:r>
              <a:rPr lang="en-IN" dirty="0"/>
              <a:t>                                                         </a:t>
            </a:r>
          </a:p>
        </p:txBody>
      </p:sp>
      <p:sp>
        <p:nvSpPr>
          <p:cNvPr id="11" name="TextBox 10">
            <a:extLst>
              <a:ext uri="{FF2B5EF4-FFF2-40B4-BE49-F238E27FC236}">
                <a16:creationId xmlns:a16="http://schemas.microsoft.com/office/drawing/2014/main" id="{3C4CFAAD-C2D3-92C7-7D85-D0B8093C849E}"/>
              </a:ext>
            </a:extLst>
          </p:cNvPr>
          <p:cNvSpPr txBox="1"/>
          <p:nvPr/>
        </p:nvSpPr>
        <p:spPr>
          <a:xfrm>
            <a:off x="2286000" y="2967335"/>
            <a:ext cx="4572000" cy="923330"/>
          </a:xfrm>
          <a:prstGeom prst="rect">
            <a:avLst/>
          </a:prstGeom>
          <a:noFill/>
        </p:spPr>
        <p:txBody>
          <a:bodyPr wrap="square">
            <a:spAutoFit/>
          </a:bodyPr>
          <a:lstStyle/>
          <a:p>
            <a:pPr algn="ctr"/>
            <a:r>
              <a:rPr lang="en-IN" dirty="0"/>
              <a:t>SUBMITTED TO </a:t>
            </a:r>
          </a:p>
          <a:p>
            <a:pPr algn="ctr"/>
            <a:r>
              <a:rPr lang="en-IN" dirty="0"/>
              <a:t>                                                          </a:t>
            </a:r>
            <a:r>
              <a:rPr lang="en-IN" dirty="0" err="1"/>
              <a:t>Dr.Sujeet.s.jagtap</a:t>
            </a:r>
            <a:endParaRPr lang="en-IN" dirty="0"/>
          </a:p>
        </p:txBody>
      </p:sp>
    </p:spTree>
    <p:extLst>
      <p:ext uri="{BB962C8B-B14F-4D97-AF65-F5344CB8AC3E}">
        <p14:creationId xmlns:p14="http://schemas.microsoft.com/office/powerpoint/2010/main" val="3736755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LIST OF CONTENTS</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pPr marL="0" indent="0">
              <a:buNone/>
            </a:pPr>
            <a:endParaRPr lang="en-US" dirty="0"/>
          </a:p>
          <a:p>
            <a:r>
              <a:rPr lang="en-US" dirty="0"/>
              <a:t>Introduction</a:t>
            </a:r>
          </a:p>
          <a:p>
            <a:r>
              <a:rPr lang="en-US" dirty="0"/>
              <a:t>Abstract</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DB26-3AD1-2D92-44C0-4905BB15DD13}"/>
              </a:ext>
            </a:extLst>
          </p:cNvPr>
          <p:cNvSpPr>
            <a:spLocks noGrp="1"/>
          </p:cNvSpPr>
          <p:nvPr>
            <p:ph type="title"/>
          </p:nvPr>
        </p:nvSpPr>
        <p:spPr/>
        <p:txBody>
          <a:bodyPr/>
          <a:lstStyle/>
          <a:p>
            <a:r>
              <a:rPr lang="en-IN" dirty="0"/>
              <a:t>INTRODUCTION</a:t>
            </a:r>
            <a:endParaRPr lang="en-US" dirty="0"/>
          </a:p>
        </p:txBody>
      </p:sp>
      <p:sp>
        <p:nvSpPr>
          <p:cNvPr id="3" name="Content Placeholder 2">
            <a:extLst>
              <a:ext uri="{FF2B5EF4-FFF2-40B4-BE49-F238E27FC236}">
                <a16:creationId xmlns:a16="http://schemas.microsoft.com/office/drawing/2014/main" id="{5084DF11-E5B8-EA6D-33A0-025479DD821C}"/>
              </a:ext>
            </a:extLst>
          </p:cNvPr>
          <p:cNvSpPr>
            <a:spLocks noGrp="1"/>
          </p:cNvSpPr>
          <p:nvPr>
            <p:ph idx="1"/>
          </p:nvPr>
        </p:nvSpPr>
        <p:spPr>
          <a:xfrm>
            <a:off x="457200" y="1219200"/>
            <a:ext cx="8229600" cy="4906963"/>
          </a:xfrm>
        </p:spPr>
        <p:txBody>
          <a:bodyPr>
            <a:normAutofit fontScale="47500" lnSpcReduction="20000"/>
          </a:bodyPr>
          <a:lstStyle/>
          <a:p>
            <a:endParaRPr lang="en-IN" dirty="0"/>
          </a:p>
          <a:p>
            <a:pPr marL="0" indent="0">
              <a:lnSpc>
                <a:spcPct val="170000"/>
              </a:lnSpc>
              <a:buNone/>
            </a:pPr>
            <a:r>
              <a:rPr lang="en-IN" dirty="0"/>
              <a:t>• </a:t>
            </a:r>
            <a:r>
              <a:rPr lang="en-IN" sz="3300" dirty="0"/>
              <a:t>What is a Price Comparator?</a:t>
            </a:r>
          </a:p>
          <a:p>
            <a:pPr marL="0" indent="0">
              <a:lnSpc>
                <a:spcPct val="170000"/>
              </a:lnSpc>
              <a:buNone/>
            </a:pPr>
            <a:r>
              <a:rPr lang="en-IN" sz="3300" dirty="0"/>
              <a:t>A price comparator is an online tool that collects and compares prices of the same </a:t>
            </a:r>
          </a:p>
          <a:p>
            <a:pPr marL="0" indent="0">
              <a:lnSpc>
                <a:spcPct val="170000"/>
              </a:lnSpc>
              <a:buNone/>
            </a:pPr>
            <a:r>
              <a:rPr lang="en-IN" sz="3300" dirty="0"/>
              <a:t>product from multiple e-commerce websites to help users find the best deal.</a:t>
            </a:r>
          </a:p>
          <a:p>
            <a:pPr marL="0" indent="0">
              <a:lnSpc>
                <a:spcPct val="170000"/>
              </a:lnSpc>
              <a:buNone/>
            </a:pPr>
            <a:r>
              <a:rPr lang="en-IN" sz="3300" dirty="0"/>
              <a:t>• Importance:</a:t>
            </a:r>
          </a:p>
          <a:p>
            <a:pPr marL="0" indent="0">
              <a:lnSpc>
                <a:spcPct val="170000"/>
              </a:lnSpc>
              <a:buNone/>
            </a:pPr>
            <a:r>
              <a:rPr lang="en-IN" sz="3300" dirty="0"/>
              <a:t>Online shopping offers many options, but comparing prices manually is time-</a:t>
            </a:r>
          </a:p>
          <a:p>
            <a:pPr marL="0" indent="0">
              <a:lnSpc>
                <a:spcPct val="170000"/>
              </a:lnSpc>
              <a:buNone/>
            </a:pPr>
            <a:r>
              <a:rPr lang="en-IN" sz="3300" dirty="0"/>
              <a:t>consuming. A price comparator saves time and helps users make smart buying </a:t>
            </a:r>
          </a:p>
          <a:p>
            <a:pPr marL="0" indent="0">
              <a:lnSpc>
                <a:spcPct val="170000"/>
              </a:lnSpc>
              <a:buNone/>
            </a:pPr>
            <a:r>
              <a:rPr lang="en-IN" sz="3300" dirty="0"/>
              <a:t>decisions by showing the best prices in one place.</a:t>
            </a:r>
          </a:p>
          <a:p>
            <a:pPr marL="0" indent="0">
              <a:lnSpc>
                <a:spcPct val="170000"/>
              </a:lnSpc>
              <a:buNone/>
            </a:pPr>
            <a:r>
              <a:rPr lang="en-IN" sz="3300" dirty="0"/>
              <a:t>• Brief Overview:</a:t>
            </a:r>
          </a:p>
          <a:p>
            <a:pPr marL="0" indent="0">
              <a:lnSpc>
                <a:spcPct val="170000"/>
              </a:lnSpc>
              <a:buNone/>
            </a:pPr>
            <a:r>
              <a:rPr lang="en-IN" sz="3300" dirty="0"/>
              <a:t>Our project is a full-stack web application that aggregates product prices in real-time from different stores. It offers filtering options and price alerts, making it easy for users to compare and choose the best price quickly</a:t>
            </a:r>
            <a:endParaRPr lang="en-US" sz="3300" dirty="0"/>
          </a:p>
        </p:txBody>
      </p:sp>
      <p:sp>
        <p:nvSpPr>
          <p:cNvPr id="4" name="Date Placeholder 3">
            <a:extLst>
              <a:ext uri="{FF2B5EF4-FFF2-40B4-BE49-F238E27FC236}">
                <a16:creationId xmlns:a16="http://schemas.microsoft.com/office/drawing/2014/main" id="{AEEF1756-54AF-1C8A-60EA-F638EDA6CEFE}"/>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1643E496-2909-7240-54BA-FB97419125B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352EAFD-C2AB-29C7-AE0B-783A61974272}"/>
              </a:ext>
            </a:extLst>
          </p:cNvPr>
          <p:cNvSpPr>
            <a:spLocks noGrp="1"/>
          </p:cNvSpPr>
          <p:nvPr>
            <p:ph type="sldNum" sz="quarter" idx="12"/>
          </p:nvPr>
        </p:nvSpPr>
        <p:spPr/>
        <p:txBody>
          <a:bodyPr/>
          <a:lstStyle/>
          <a:p>
            <a:fld id="{7B28076C-CE04-4A00-BFAA-A90EA8355859}" type="slidenum">
              <a:rPr lang="en-US" smtClean="0"/>
              <a:t>3</a:t>
            </a:fld>
            <a:endParaRPr lang="en-US"/>
          </a:p>
        </p:txBody>
      </p:sp>
    </p:spTree>
    <p:extLst>
      <p:ext uri="{BB962C8B-B14F-4D97-AF65-F5344CB8AC3E}">
        <p14:creationId xmlns:p14="http://schemas.microsoft.com/office/powerpoint/2010/main" val="123732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FA5FB-4450-991B-99AA-AB98C33D0D46}"/>
              </a:ext>
            </a:extLst>
          </p:cNvPr>
          <p:cNvSpPr>
            <a:spLocks noGrp="1"/>
          </p:cNvSpPr>
          <p:nvPr>
            <p:ph type="title"/>
          </p:nvPr>
        </p:nvSpPr>
        <p:spPr/>
        <p:txBody>
          <a:bodyPr/>
          <a:lstStyle/>
          <a:p>
            <a:r>
              <a:rPr lang="en-IN" dirty="0"/>
              <a:t>ABSTRACT</a:t>
            </a:r>
            <a:endParaRPr lang="en-US" dirty="0"/>
          </a:p>
        </p:txBody>
      </p:sp>
      <p:sp>
        <p:nvSpPr>
          <p:cNvPr id="3" name="Content Placeholder 2">
            <a:extLst>
              <a:ext uri="{FF2B5EF4-FFF2-40B4-BE49-F238E27FC236}">
                <a16:creationId xmlns:a16="http://schemas.microsoft.com/office/drawing/2014/main" id="{C555DD58-9732-692C-219A-83099431C8C8}"/>
              </a:ext>
            </a:extLst>
          </p:cNvPr>
          <p:cNvSpPr>
            <a:spLocks noGrp="1"/>
          </p:cNvSpPr>
          <p:nvPr>
            <p:ph idx="1"/>
          </p:nvPr>
        </p:nvSpPr>
        <p:spPr/>
        <p:txBody>
          <a:bodyPr>
            <a:normAutofit/>
          </a:bodyPr>
          <a:lstStyle/>
          <a:p>
            <a:pPr marL="0" indent="0">
              <a:lnSpc>
                <a:spcPct val="150000"/>
              </a:lnSpc>
              <a:buNone/>
            </a:pPr>
            <a:r>
              <a:rPr lang="en-IN" sz="1800" dirty="0"/>
              <a:t>This project presents a full-stack web application designed as a Price Comparator tool that enables users to efficiently compare product prices across multiple e-commerce platforms. The system aggregates real-time pricing data and provides users with intuitive filtering options, ensuring quick identification of the best available deals. In addition to price comparison, the application offers features such as price alerts and a user-friendly interface to enhance the online shopping experience. By reducing the time and effort required for manual comparisons, this tool empowers users to make cost-effective purchasing decisions while highlighting the significance of automation and data integration in modern e-commerce solutions.</a:t>
            </a:r>
            <a:endParaRPr lang="en-US" sz="1800" dirty="0"/>
          </a:p>
        </p:txBody>
      </p:sp>
      <p:sp>
        <p:nvSpPr>
          <p:cNvPr id="4" name="Date Placeholder 3">
            <a:extLst>
              <a:ext uri="{FF2B5EF4-FFF2-40B4-BE49-F238E27FC236}">
                <a16:creationId xmlns:a16="http://schemas.microsoft.com/office/drawing/2014/main" id="{031B48DF-3842-DC00-5BE9-AB258BB7E264}"/>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75B1E801-F020-AC05-33BA-706819DA200A}"/>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D8A799F-2AC1-C795-BDE8-E2BE9B26F967}"/>
              </a:ext>
            </a:extLst>
          </p:cNvPr>
          <p:cNvSpPr>
            <a:spLocks noGrp="1"/>
          </p:cNvSpPr>
          <p:nvPr>
            <p:ph type="sldNum" sz="quarter" idx="12"/>
          </p:nvPr>
        </p:nvSpPr>
        <p:spPr/>
        <p:txBody>
          <a:bodyPr/>
          <a:lstStyle/>
          <a:p>
            <a:fld id="{7B28076C-CE04-4A00-BFAA-A90EA8355859}" type="slidenum">
              <a:rPr lang="en-US" smtClean="0"/>
              <a:t>4</a:t>
            </a:fld>
            <a:endParaRPr lang="en-US"/>
          </a:p>
        </p:txBody>
      </p:sp>
    </p:spTree>
    <p:extLst>
      <p:ext uri="{BB962C8B-B14F-4D97-AF65-F5344CB8AC3E}">
        <p14:creationId xmlns:p14="http://schemas.microsoft.com/office/powerpoint/2010/main" val="479638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4DD3-FA55-E7D9-E5D6-8F93479BE352}"/>
              </a:ext>
            </a:extLst>
          </p:cNvPr>
          <p:cNvSpPr>
            <a:spLocks noGrp="1"/>
          </p:cNvSpPr>
          <p:nvPr>
            <p:ph type="title"/>
          </p:nvPr>
        </p:nvSpPr>
        <p:spPr/>
        <p:txBody>
          <a:bodyPr/>
          <a:lstStyle/>
          <a:p>
            <a:r>
              <a:rPr lang="en-IN" dirty="0"/>
              <a:t>OBJECTIVE</a:t>
            </a:r>
            <a:endParaRPr lang="en-US" dirty="0"/>
          </a:p>
        </p:txBody>
      </p:sp>
      <p:sp>
        <p:nvSpPr>
          <p:cNvPr id="3" name="Content Placeholder 2">
            <a:extLst>
              <a:ext uri="{FF2B5EF4-FFF2-40B4-BE49-F238E27FC236}">
                <a16:creationId xmlns:a16="http://schemas.microsoft.com/office/drawing/2014/main" id="{2A5B068C-D4C2-C02E-995C-732F941BE712}"/>
              </a:ext>
            </a:extLst>
          </p:cNvPr>
          <p:cNvSpPr>
            <a:spLocks noGrp="1"/>
          </p:cNvSpPr>
          <p:nvPr>
            <p:ph idx="1"/>
          </p:nvPr>
        </p:nvSpPr>
        <p:spPr/>
        <p:txBody>
          <a:bodyPr>
            <a:normAutofit/>
          </a:bodyPr>
          <a:lstStyle/>
          <a:p>
            <a:pPr marL="0" indent="0">
              <a:lnSpc>
                <a:spcPct val="150000"/>
              </a:lnSpc>
              <a:buNone/>
            </a:pPr>
            <a:r>
              <a:rPr lang="en-IN" sz="1800" dirty="0"/>
              <a:t>• Build a web app that aggregates product prices from multiple e-commerce sites.</a:t>
            </a:r>
          </a:p>
          <a:p>
            <a:pPr marL="0" indent="0">
              <a:lnSpc>
                <a:spcPct val="150000"/>
              </a:lnSpc>
              <a:buNone/>
            </a:pPr>
            <a:r>
              <a:rPr lang="en-IN" sz="1800" dirty="0"/>
              <a:t>• Provide real-time price comparisons and updates.</a:t>
            </a:r>
          </a:p>
          <a:p>
            <a:pPr marL="0" indent="0">
              <a:lnSpc>
                <a:spcPct val="150000"/>
              </a:lnSpc>
              <a:buNone/>
            </a:pPr>
            <a:r>
              <a:rPr lang="en-IN" sz="1800" dirty="0"/>
              <a:t>• Offer advanced filters like price range, brand, seller rating, and delivery options.</a:t>
            </a:r>
          </a:p>
          <a:p>
            <a:pPr marL="0" indent="0">
              <a:lnSpc>
                <a:spcPct val="150000"/>
              </a:lnSpc>
              <a:buNone/>
            </a:pPr>
            <a:r>
              <a:rPr lang="en-IN" sz="1800" dirty="0"/>
              <a:t>• Enable users to set alerts for price drops and special deals.</a:t>
            </a:r>
          </a:p>
          <a:p>
            <a:pPr marL="0" indent="0">
              <a:lnSpc>
                <a:spcPct val="150000"/>
              </a:lnSpc>
              <a:buNone/>
            </a:pPr>
            <a:r>
              <a:rPr lang="en-IN" sz="1800" dirty="0"/>
              <a:t>• Design an intuitive, user-friendly, and responsive interface.</a:t>
            </a:r>
            <a:endParaRPr lang="en-US" sz="1800" dirty="0"/>
          </a:p>
        </p:txBody>
      </p:sp>
      <p:sp>
        <p:nvSpPr>
          <p:cNvPr id="4" name="Date Placeholder 3">
            <a:extLst>
              <a:ext uri="{FF2B5EF4-FFF2-40B4-BE49-F238E27FC236}">
                <a16:creationId xmlns:a16="http://schemas.microsoft.com/office/drawing/2014/main" id="{1C273FA3-1905-77F7-AD4B-0D96DE580D1D}"/>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5FF4CB9E-82BF-32BD-D3A4-842BDDD965A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5156C14-1A0E-ADFE-7738-6FAC16BE37EE}"/>
              </a:ext>
            </a:extLst>
          </p:cNvPr>
          <p:cNvSpPr>
            <a:spLocks noGrp="1"/>
          </p:cNvSpPr>
          <p:nvPr>
            <p:ph type="sldNum" sz="quarter" idx="12"/>
          </p:nvPr>
        </p:nvSpPr>
        <p:spPr/>
        <p:txBody>
          <a:bodyPr/>
          <a:lstStyle/>
          <a:p>
            <a:fld id="{7B28076C-CE04-4A00-BFAA-A90EA8355859}" type="slidenum">
              <a:rPr lang="en-US" smtClean="0"/>
              <a:t>5</a:t>
            </a:fld>
            <a:endParaRPr lang="en-US"/>
          </a:p>
        </p:txBody>
      </p:sp>
    </p:spTree>
    <p:extLst>
      <p:ext uri="{BB962C8B-B14F-4D97-AF65-F5344CB8AC3E}">
        <p14:creationId xmlns:p14="http://schemas.microsoft.com/office/powerpoint/2010/main" val="1359821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12BD-EC35-8282-87AA-9BD78DC7DA77}"/>
              </a:ext>
            </a:extLst>
          </p:cNvPr>
          <p:cNvSpPr>
            <a:spLocks noGrp="1"/>
          </p:cNvSpPr>
          <p:nvPr>
            <p:ph type="title"/>
          </p:nvPr>
        </p:nvSpPr>
        <p:spPr/>
        <p:txBody>
          <a:bodyPr/>
          <a:lstStyle/>
          <a:p>
            <a:r>
              <a:rPr lang="en-IN" dirty="0"/>
              <a:t>SYSTEM ARCHITECTURE</a:t>
            </a:r>
            <a:endParaRPr lang="en-US" dirty="0"/>
          </a:p>
        </p:txBody>
      </p:sp>
      <p:pic>
        <p:nvPicPr>
          <p:cNvPr id="7" name="Content Placeholder 6">
            <a:extLst>
              <a:ext uri="{FF2B5EF4-FFF2-40B4-BE49-F238E27FC236}">
                <a16:creationId xmlns:a16="http://schemas.microsoft.com/office/drawing/2014/main" id="{EED3B8C4-5A80-BF01-46D1-3B8C95DC97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flipH="1" flipV="1">
            <a:off x="1594677" y="1311650"/>
            <a:ext cx="5954645" cy="5227262"/>
          </a:xfrm>
        </p:spPr>
      </p:pic>
      <p:sp>
        <p:nvSpPr>
          <p:cNvPr id="4" name="Date Placeholder 3">
            <a:extLst>
              <a:ext uri="{FF2B5EF4-FFF2-40B4-BE49-F238E27FC236}">
                <a16:creationId xmlns:a16="http://schemas.microsoft.com/office/drawing/2014/main" id="{275B1903-A0C7-961A-062C-D70588AA0EC7}"/>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28F7FE5A-FD38-4EB4-CD77-6F84641CCBB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2E056957-5DBD-88F7-FA44-393290006001}"/>
              </a:ext>
            </a:extLst>
          </p:cNvPr>
          <p:cNvSpPr>
            <a:spLocks noGrp="1"/>
          </p:cNvSpPr>
          <p:nvPr>
            <p:ph type="sldNum" sz="quarter" idx="12"/>
          </p:nvPr>
        </p:nvSpPr>
        <p:spPr/>
        <p:txBody>
          <a:bodyPr/>
          <a:lstStyle/>
          <a:p>
            <a:fld id="{7B28076C-CE04-4A00-BFAA-A90EA8355859}" type="slidenum">
              <a:rPr lang="en-US" smtClean="0"/>
              <a:t>6</a:t>
            </a:fld>
            <a:endParaRPr lang="en-US"/>
          </a:p>
        </p:txBody>
      </p:sp>
    </p:spTree>
    <p:extLst>
      <p:ext uri="{BB962C8B-B14F-4D97-AF65-F5344CB8AC3E}">
        <p14:creationId xmlns:p14="http://schemas.microsoft.com/office/powerpoint/2010/main" val="243274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6AE93-E232-6305-2AB8-71772273EE9D}"/>
              </a:ext>
            </a:extLst>
          </p:cNvPr>
          <p:cNvSpPr>
            <a:spLocks noGrp="1"/>
          </p:cNvSpPr>
          <p:nvPr>
            <p:ph type="title"/>
          </p:nvPr>
        </p:nvSpPr>
        <p:spPr/>
        <p:txBody>
          <a:bodyPr/>
          <a:lstStyle/>
          <a:p>
            <a:r>
              <a:rPr lang="en-IN" dirty="0"/>
              <a:t>MODULE IMPLEMENTATION</a:t>
            </a:r>
            <a:endParaRPr lang="en-US" dirty="0"/>
          </a:p>
        </p:txBody>
      </p:sp>
      <p:sp>
        <p:nvSpPr>
          <p:cNvPr id="4" name="Date Placeholder 3">
            <a:extLst>
              <a:ext uri="{FF2B5EF4-FFF2-40B4-BE49-F238E27FC236}">
                <a16:creationId xmlns:a16="http://schemas.microsoft.com/office/drawing/2014/main" id="{E83D62F8-7F7E-ACD4-C442-672DF8869D75}"/>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8A1DE6C0-7C7A-9420-0C81-AA42AB090E8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74851F3-6083-E3A6-B3E5-CBB1D662B671}"/>
              </a:ext>
            </a:extLst>
          </p:cNvPr>
          <p:cNvSpPr>
            <a:spLocks noGrp="1"/>
          </p:cNvSpPr>
          <p:nvPr>
            <p:ph type="sldNum" sz="quarter" idx="12"/>
          </p:nvPr>
        </p:nvSpPr>
        <p:spPr/>
        <p:txBody>
          <a:bodyPr/>
          <a:lstStyle/>
          <a:p>
            <a:fld id="{7B28076C-CE04-4A00-BFAA-A90EA8355859}" type="slidenum">
              <a:rPr lang="en-US" smtClean="0"/>
              <a:t>7</a:t>
            </a:fld>
            <a:endParaRPr lang="en-US"/>
          </a:p>
        </p:txBody>
      </p:sp>
      <p:sp>
        <p:nvSpPr>
          <p:cNvPr id="8" name="Content Placeholder 7">
            <a:extLst>
              <a:ext uri="{FF2B5EF4-FFF2-40B4-BE49-F238E27FC236}">
                <a16:creationId xmlns:a16="http://schemas.microsoft.com/office/drawing/2014/main" id="{7E62426F-8EE8-ACE3-A27D-3FD7040C46D4}"/>
              </a:ext>
            </a:extLst>
          </p:cNvPr>
          <p:cNvSpPr>
            <a:spLocks noGrp="1"/>
          </p:cNvSpPr>
          <p:nvPr>
            <p:ph idx="1"/>
          </p:nvPr>
        </p:nvSpPr>
        <p:spPr/>
        <p:txBody>
          <a:bodyPr>
            <a:normAutofit/>
          </a:bodyPr>
          <a:lstStyle/>
          <a:p>
            <a:pPr>
              <a:lnSpc>
                <a:spcPct val="150000"/>
              </a:lnSpc>
            </a:pPr>
            <a:r>
              <a:rPr lang="en-IN" sz="1800" dirty="0"/>
              <a:t>User Interface – Search, filter, and display products.
Data Collection – Fetch prices via APIs/Web Scraping.
Data Processing – Clean, aggregate, and normalize results.
Price Comparison – Show best deals with sorting/filtering.</a:t>
            </a:r>
          </a:p>
          <a:p>
            <a:pPr>
              <a:lnSpc>
                <a:spcPct val="150000"/>
              </a:lnSpc>
            </a:pPr>
            <a:r>
              <a:rPr lang="en-IN" sz="1800" dirty="0"/>
              <a:t>Price Alert – Notify users of price drops.</a:t>
            </a:r>
            <a:endParaRPr lang="en-US" sz="1800" dirty="0"/>
          </a:p>
        </p:txBody>
      </p:sp>
    </p:spTree>
    <p:extLst>
      <p:ext uri="{BB962C8B-B14F-4D97-AF65-F5344CB8AC3E}">
        <p14:creationId xmlns:p14="http://schemas.microsoft.com/office/powerpoint/2010/main" val="3847518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9B14C-D17F-66FB-8711-F15EE6612C1F}"/>
              </a:ext>
            </a:extLst>
          </p:cNvPr>
          <p:cNvSpPr>
            <a:spLocks noGrp="1"/>
          </p:cNvSpPr>
          <p:nvPr>
            <p:ph type="title"/>
          </p:nvPr>
        </p:nvSpPr>
        <p:spPr/>
        <p:txBody>
          <a:bodyPr/>
          <a:lstStyle/>
          <a:p>
            <a:r>
              <a:rPr lang="en-IN" dirty="0"/>
              <a:t>RESULTS AND DISCUSSIONS</a:t>
            </a:r>
            <a:endParaRPr lang="en-US" dirty="0"/>
          </a:p>
        </p:txBody>
      </p:sp>
      <p:sp>
        <p:nvSpPr>
          <p:cNvPr id="3" name="Content Placeholder 2">
            <a:extLst>
              <a:ext uri="{FF2B5EF4-FFF2-40B4-BE49-F238E27FC236}">
                <a16:creationId xmlns:a16="http://schemas.microsoft.com/office/drawing/2014/main" id="{5AF2C578-EBD4-E9C9-24C6-DCF90D581420}"/>
              </a:ext>
            </a:extLst>
          </p:cNvPr>
          <p:cNvSpPr>
            <a:spLocks noGrp="1"/>
          </p:cNvSpPr>
          <p:nvPr>
            <p:ph idx="1"/>
          </p:nvPr>
        </p:nvSpPr>
        <p:spPr>
          <a:xfrm>
            <a:off x="449826" y="1600993"/>
            <a:ext cx="8229600" cy="4525963"/>
          </a:xfrm>
        </p:spPr>
        <p:txBody>
          <a:bodyPr>
            <a:normAutofit/>
          </a:bodyPr>
          <a:lstStyle/>
          <a:p>
            <a:pPr marL="0" indent="0">
              <a:lnSpc>
                <a:spcPct val="150000"/>
              </a:lnSpc>
              <a:buNone/>
            </a:pPr>
            <a:r>
              <a:rPr lang="en-IN" sz="1800" dirty="0"/>
              <a:t>Prices fetched in real-time from multiple </a:t>
            </a:r>
            <a:r>
              <a:rPr lang="en-IN" sz="1800" dirty="0" err="1"/>
              <a:t>sites.Lowest</a:t>
            </a:r>
            <a:r>
              <a:rPr lang="en-IN" sz="1800" dirty="0"/>
              <a:t> price highlighted for quick </a:t>
            </a:r>
            <a:r>
              <a:rPr lang="en-IN" sz="1800" dirty="0" err="1"/>
              <a:t>decisions.Users</a:t>
            </a:r>
            <a:r>
              <a:rPr lang="en-IN" sz="1800" dirty="0"/>
              <a:t> save time vs manual </a:t>
            </a:r>
            <a:r>
              <a:rPr lang="en-IN" sz="1800" dirty="0" err="1"/>
              <a:t>comparison.Price</a:t>
            </a:r>
            <a:r>
              <a:rPr lang="en-IN" sz="1800" dirty="0"/>
              <a:t> alerts improve buying </a:t>
            </a:r>
            <a:r>
              <a:rPr lang="en-IN" sz="1800" dirty="0" err="1"/>
              <a:t>efficiency.Simple</a:t>
            </a:r>
            <a:r>
              <a:rPr lang="en-IN" sz="1800" dirty="0"/>
              <a:t> and user-friendly interface.</a:t>
            </a:r>
          </a:p>
          <a:p>
            <a:pPr marL="0" indent="0">
              <a:lnSpc>
                <a:spcPct val="150000"/>
              </a:lnSpc>
              <a:buNone/>
            </a:pPr>
            <a:endParaRPr lang="en-IN" sz="1800" dirty="0"/>
          </a:p>
          <a:p>
            <a:pPr marL="0" indent="0">
              <a:lnSpc>
                <a:spcPct val="150000"/>
              </a:lnSpc>
              <a:buNone/>
            </a:pPr>
            <a:r>
              <a:rPr lang="en-IN" sz="1800" dirty="0"/>
              <a:t>Discussion: Centralized comparison improves shopping experience; can be expanded to more platforms in future.</a:t>
            </a:r>
            <a:endParaRPr lang="en-IN" dirty="0"/>
          </a:p>
        </p:txBody>
      </p:sp>
      <p:sp>
        <p:nvSpPr>
          <p:cNvPr id="4" name="Date Placeholder 3">
            <a:extLst>
              <a:ext uri="{FF2B5EF4-FFF2-40B4-BE49-F238E27FC236}">
                <a16:creationId xmlns:a16="http://schemas.microsoft.com/office/drawing/2014/main" id="{AD966B2B-8929-F8DC-D56B-B240C6D7EFDA}"/>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D43EF583-4E96-1EE9-63D6-9D6BDDB8F98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0B654C9-A4C0-AE22-02A1-77B7B80D76F7}"/>
              </a:ext>
            </a:extLst>
          </p:cNvPr>
          <p:cNvSpPr>
            <a:spLocks noGrp="1"/>
          </p:cNvSpPr>
          <p:nvPr>
            <p:ph type="sldNum" sz="quarter" idx="12"/>
          </p:nvPr>
        </p:nvSpPr>
        <p:spPr/>
        <p:txBody>
          <a:bodyPr/>
          <a:lstStyle/>
          <a:p>
            <a:fld id="{7B28076C-CE04-4A00-BFAA-A90EA8355859}" type="slidenum">
              <a:rPr lang="en-US" smtClean="0"/>
              <a:t>8</a:t>
            </a:fld>
            <a:endParaRPr lang="en-US"/>
          </a:p>
        </p:txBody>
      </p:sp>
    </p:spTree>
    <p:extLst>
      <p:ext uri="{BB962C8B-B14F-4D97-AF65-F5344CB8AC3E}">
        <p14:creationId xmlns:p14="http://schemas.microsoft.com/office/powerpoint/2010/main" val="2090855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B94B7-301B-1A51-AADA-4794D4F3EE81}"/>
              </a:ext>
            </a:extLst>
          </p:cNvPr>
          <p:cNvSpPr>
            <a:spLocks noGrp="1"/>
          </p:cNvSpPr>
          <p:nvPr>
            <p:ph type="title"/>
          </p:nvPr>
        </p:nvSpPr>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054480ED-DBBB-E6B6-CD59-75E043DDD9C1}"/>
              </a:ext>
            </a:extLst>
          </p:cNvPr>
          <p:cNvSpPr>
            <a:spLocks noGrp="1"/>
          </p:cNvSpPr>
          <p:nvPr>
            <p:ph idx="1"/>
          </p:nvPr>
        </p:nvSpPr>
        <p:spPr/>
        <p:txBody>
          <a:bodyPr>
            <a:normAutofit/>
          </a:bodyPr>
          <a:lstStyle/>
          <a:p>
            <a:pPr>
              <a:lnSpc>
                <a:spcPct val="150000"/>
              </a:lnSpc>
            </a:pPr>
            <a:r>
              <a:rPr lang="en-IN" sz="1800" dirty="0"/>
              <a:t>The Price Comparator effectively simplifies online shopping by providing real-time price comparisons.
It helps users save time and money through quick decision-making and price alerts.
The project highlights the role of automation and data integration in improving e-commerce solutions.
Future work can focus on adding more platforms and enhancing accuracy for broader usability.</a:t>
            </a:r>
            <a:endParaRPr lang="en-US" sz="1800" dirty="0"/>
          </a:p>
        </p:txBody>
      </p:sp>
      <p:sp>
        <p:nvSpPr>
          <p:cNvPr id="4" name="Date Placeholder 3">
            <a:extLst>
              <a:ext uri="{FF2B5EF4-FFF2-40B4-BE49-F238E27FC236}">
                <a16:creationId xmlns:a16="http://schemas.microsoft.com/office/drawing/2014/main" id="{CB4511D9-331B-0366-0358-9189DC7B80C8}"/>
              </a:ext>
            </a:extLst>
          </p:cNvPr>
          <p:cNvSpPr>
            <a:spLocks noGrp="1"/>
          </p:cNvSpPr>
          <p:nvPr>
            <p:ph type="dt" sz="half" idx="10"/>
          </p:nvPr>
        </p:nvSpPr>
        <p:spPr/>
        <p:txBody>
          <a:bodyPr/>
          <a:lstStyle/>
          <a:p>
            <a:fld id="{EB7275DB-6D13-480B-AC77-F5019BDC5287}" type="datetime3">
              <a:rPr lang="en-US" smtClean="0"/>
              <a:t>9 April 2026</a:t>
            </a:fld>
            <a:endParaRPr lang="en-US"/>
          </a:p>
        </p:txBody>
      </p:sp>
      <p:sp>
        <p:nvSpPr>
          <p:cNvPr id="5" name="Footer Placeholder 4">
            <a:extLst>
              <a:ext uri="{FF2B5EF4-FFF2-40B4-BE49-F238E27FC236}">
                <a16:creationId xmlns:a16="http://schemas.microsoft.com/office/drawing/2014/main" id="{2FE2F3B8-CF06-A2F6-053D-FE1E563D57DB}"/>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878991A-0D15-1651-ADB4-2467B0796890}"/>
              </a:ext>
            </a:extLst>
          </p:cNvPr>
          <p:cNvSpPr>
            <a:spLocks noGrp="1"/>
          </p:cNvSpPr>
          <p:nvPr>
            <p:ph type="sldNum" sz="quarter" idx="12"/>
          </p:nvPr>
        </p:nvSpPr>
        <p:spPr/>
        <p:txBody>
          <a:bodyPr/>
          <a:lstStyle/>
          <a:p>
            <a:fld id="{7B28076C-CE04-4A00-BFAA-A90EA8355859}" type="slidenum">
              <a:rPr lang="en-US" smtClean="0"/>
              <a:t>9</a:t>
            </a:fld>
            <a:endParaRPr lang="en-US"/>
          </a:p>
        </p:txBody>
      </p:sp>
    </p:spTree>
    <p:extLst>
      <p:ext uri="{BB962C8B-B14F-4D97-AF65-F5344CB8AC3E}">
        <p14:creationId xmlns:p14="http://schemas.microsoft.com/office/powerpoint/2010/main" val="400538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REFERENCES</a:t>
            </a:r>
          </a:p>
        </p:txBody>
      </p:sp>
      <p:sp>
        <p:nvSpPr>
          <p:cNvPr id="3" name="Content Placeholder 2"/>
          <p:cNvSpPr>
            <a:spLocks noGrp="1"/>
          </p:cNvSpPr>
          <p:nvPr>
            <p:ph idx="1"/>
          </p:nvPr>
        </p:nvSpPr>
        <p:spPr>
          <a:xfrm>
            <a:off x="457200" y="1600200"/>
            <a:ext cx="8229600" cy="4080566"/>
          </a:xfrm>
        </p:spPr>
        <p:txBody>
          <a:bodyPr>
            <a:noAutofit/>
          </a:bodyPr>
          <a:lstStyle/>
          <a:p>
            <a:pPr marL="0" lvl="0" indent="0" algn="just">
              <a:lnSpc>
                <a:spcPct val="150000"/>
              </a:lnSpc>
              <a:buNone/>
            </a:pPr>
            <a:r>
              <a:rPr lang="en-IN" sz="2000" dirty="0">
                <a:latin typeface="Arial" panose="020B0604020202020204" pitchFamily="34" charset="0"/>
                <a:cs typeface="Arial" panose="020B0604020202020204" pitchFamily="34" charset="0"/>
              </a:rPr>
              <a:t>• </a:t>
            </a:r>
            <a:r>
              <a:rPr lang="en-IN" sz="1800" dirty="0">
                <a:latin typeface="Arial" panose="020B0604020202020204" pitchFamily="34" charset="0"/>
                <a:cs typeface="Arial" panose="020B0604020202020204" pitchFamily="34" charset="0"/>
              </a:rPr>
              <a:t>Frontend add </a:t>
            </a:r>
            <a:r>
              <a:rPr lang="en-IN" sz="1800" dirty="0" err="1">
                <a:latin typeface="Arial" panose="020B0604020202020204" pitchFamily="34" charset="0"/>
                <a:cs typeface="Arial" panose="020B0604020202020204" pitchFamily="34" charset="0"/>
              </a:rPr>
              <a:t>css</a:t>
            </a:r>
            <a:r>
              <a:rPr lang="en-IN" sz="1800" dirty="0">
                <a:latin typeface="Arial" panose="020B0604020202020204" pitchFamily="34" charset="0"/>
                <a:cs typeface="Arial" panose="020B0604020202020204" pitchFamily="34" charset="0"/>
              </a:rPr>
              <a:t> html </a:t>
            </a:r>
          </a:p>
          <a:p>
            <a:pPr marL="0" lvl="0" indent="0" algn="just">
              <a:lnSpc>
                <a:spcPct val="150000"/>
              </a:lnSpc>
              <a:buNone/>
            </a:pPr>
            <a:r>
              <a:rPr lang="en-IN" sz="1800" dirty="0">
                <a:latin typeface="Arial" panose="020B0604020202020204" pitchFamily="34" charset="0"/>
                <a:cs typeface="Arial" panose="020B0604020202020204" pitchFamily="34" charset="0"/>
              </a:rPr>
              <a:t>• Database No </a:t>
            </a:r>
            <a:r>
              <a:rPr lang="en-IN" sz="1800" dirty="0" err="1">
                <a:latin typeface="Arial" panose="020B0604020202020204" pitchFamily="34" charset="0"/>
                <a:cs typeface="Arial" panose="020B0604020202020204" pitchFamily="34" charset="0"/>
              </a:rPr>
              <a:t>sql</a:t>
            </a:r>
            <a:r>
              <a:rPr lang="en-IN" sz="1800" dirty="0">
                <a:latin typeface="Arial" panose="020B0604020202020204" pitchFamily="34" charset="0"/>
                <a:cs typeface="Arial" panose="020B0604020202020204" pitchFamily="34" charset="0"/>
              </a:rPr>
              <a:t> </a:t>
            </a:r>
          </a:p>
          <a:p>
            <a:pPr marL="0" lvl="0" indent="0" algn="just">
              <a:lnSpc>
                <a:spcPct val="150000"/>
              </a:lnSpc>
              <a:buNone/>
            </a:pPr>
            <a:r>
              <a:rPr lang="en-IN" sz="1800" dirty="0">
                <a:latin typeface="Arial" panose="020B0604020202020204" pitchFamily="34" charset="0"/>
                <a:cs typeface="Arial" panose="020B0604020202020204" pitchFamily="34" charset="0"/>
              </a:rPr>
              <a:t>• Backend </a:t>
            </a:r>
            <a:r>
              <a:rPr lang="en-IN" sz="1800" dirty="0" err="1">
                <a:latin typeface="Arial" panose="020B0604020202020204" pitchFamily="34" charset="0"/>
                <a:cs typeface="Arial" panose="020B0604020202020204" pitchFamily="34" charset="0"/>
              </a:rPr>
              <a:t>javascript</a:t>
            </a:r>
            <a:r>
              <a:rPr lang="en-IN" sz="1800" dirty="0">
                <a:latin typeface="Arial" panose="020B0604020202020204" pitchFamily="34" charset="0"/>
                <a:cs typeface="Arial" panose="020B0604020202020204" pitchFamily="34" charset="0"/>
              </a:rPr>
              <a:t> </a:t>
            </a:r>
          </a:p>
          <a:p>
            <a:pPr marL="0" lvl="0" indent="0" algn="just">
              <a:lnSpc>
                <a:spcPct val="150000"/>
              </a:lnSpc>
              <a:buNone/>
            </a:pPr>
            <a:r>
              <a:rPr lang="en-IN" sz="1800" dirty="0">
                <a:latin typeface="Arial" panose="020B0604020202020204" pitchFamily="34" charset="0"/>
                <a:cs typeface="Arial" panose="020B0604020202020204" pitchFamily="34" charset="0"/>
              </a:rPr>
              <a:t>• Typescript react </a:t>
            </a:r>
            <a:r>
              <a:rPr lang="en-IN" sz="1800" dirty="0" err="1">
                <a:latin typeface="Arial" panose="020B0604020202020204" pitchFamily="34" charset="0"/>
                <a:cs typeface="Arial" panose="020B0604020202020204" pitchFamily="34" charset="0"/>
              </a:rPr>
              <a:t>js</a:t>
            </a:r>
            <a:endParaRPr lang="en-US"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40" y="228600"/>
            <a:ext cx="8229600" cy="6858000"/>
          </a:xfrm>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9 April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11</a:t>
            </a:fld>
            <a:endParaRPr lang="en-US"/>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598</Words>
  <Application>Microsoft Office PowerPoint</Application>
  <PresentationFormat>On-screen Show (4:3)</PresentationFormat>
  <Paragraphs>86</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Custom Design</vt:lpstr>
      <vt:lpstr>PROJECT CENTRIC LEARNING</vt:lpstr>
      <vt:lpstr>LIST OF CONTENTS</vt:lpstr>
      <vt:lpstr>INTRODUCTION</vt:lpstr>
      <vt:lpstr>ABSTRACT</vt:lpstr>
      <vt:lpstr>OBJECTIVE</vt:lpstr>
      <vt:lpstr>SYSTEM ARCHITECTURE</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sravya maganti</cp:lastModifiedBy>
  <cp:revision>120</cp:revision>
  <dcterms:created xsi:type="dcterms:W3CDTF">2019-11-06T07:48:00Z</dcterms:created>
  <dcterms:modified xsi:type="dcterms:W3CDTF">2026-04-09T04:09:51Z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26C965DCC8F94B56AF33BB737A8A4E09_13</vt:lpwstr>
  </property>
  <property fmtid="{D5CDD505-2E9C-101B-9397-08002B2CF9AE}" pid="3" name="KSOProductBuildVer">
    <vt:lpwstr>1033-12.2.0.22549</vt:lpwstr>
  </property>
</Properties>
</file>